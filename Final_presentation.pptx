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b9b5a6fd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b9b5a6fd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b9b5a6fd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b9b5a6fd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b9b5a6fd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b9b5a6fd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bb5861b6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bb5861b6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c3ca438d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c3ca438d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69850"/>
            <a:ext cx="8520600" cy="124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1C4587"/>
                </a:solidFill>
              </a:rPr>
              <a:t>Eniac”s Strategic Discounting:</a:t>
            </a:r>
            <a:endParaRPr sz="3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1C4587"/>
                </a:solidFill>
              </a:rPr>
              <a:t>Balancing Growth with Brand Integrity</a:t>
            </a:r>
            <a:endParaRPr sz="3400">
              <a:solidFill>
                <a:srgbClr val="1C4587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646525"/>
            <a:ext cx="8155500" cy="33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C4587"/>
                </a:solidFill>
              </a:rPr>
              <a:t>Data-Driven Insights to Settle the Revenue vs. Volume Debate </a:t>
            </a:r>
            <a:endParaRPr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Prepared By: Suthanthiradevi Seenivasan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0" y="224325"/>
            <a:ext cx="8520600" cy="6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C4587"/>
                </a:solidFill>
              </a:rPr>
              <a:t>The Strategic Tension: Revenue Peaks vs. Discount Dependency</a:t>
            </a:r>
            <a:r>
              <a:rPr lang="en" sz="2200"/>
              <a:t> </a:t>
            </a:r>
            <a:endParaRPr sz="2200"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446700" y="1057300"/>
            <a:ext cx="1940700" cy="36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6AA84F"/>
                </a:solidFill>
              </a:rPr>
              <a:t>Marketing Team</a:t>
            </a:r>
            <a:endParaRPr sz="14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Perspective: Growt</a:t>
            </a:r>
            <a:r>
              <a:rPr b="1" lang="en" sz="1100"/>
              <a:t>h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  </a:t>
            </a:r>
            <a:r>
              <a:rPr lang="en" sz="1200"/>
              <a:t>Acquisition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  </a:t>
            </a:r>
            <a:r>
              <a:rPr lang="en" sz="1200"/>
              <a:t>Retention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  </a:t>
            </a:r>
            <a:r>
              <a:rPr lang="en" sz="1200"/>
              <a:t>Market Share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06666"/>
                </a:solidFill>
              </a:rPr>
              <a:t>Investor Board</a:t>
            </a:r>
            <a:endParaRPr sz="1400">
              <a:solidFill>
                <a:srgbClr val="E0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Perspective:Profitability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 </a:t>
            </a:r>
            <a:r>
              <a:rPr lang="en" sz="1200"/>
              <a:t>Unit Value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 </a:t>
            </a:r>
            <a:r>
              <a:rPr lang="en" sz="1200"/>
              <a:t>Brand Integrity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 </a:t>
            </a:r>
            <a:r>
              <a:rPr lang="en" sz="1200"/>
              <a:t>Total Revenue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A9999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9500" y="1057300"/>
            <a:ext cx="6452100" cy="37378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" name="Google Shape;63;p14"/>
          <p:cNvSpPr/>
          <p:nvPr/>
        </p:nvSpPr>
        <p:spPr>
          <a:xfrm>
            <a:off x="5885575" y="1161425"/>
            <a:ext cx="333300" cy="3435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5094275" y="1161425"/>
            <a:ext cx="7914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Inefficient Peak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7509850" y="1140575"/>
            <a:ext cx="395700" cy="281100"/>
          </a:xfrm>
          <a:prstGeom prst="ellipse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6770500" y="1161425"/>
            <a:ext cx="6873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Efficient Peak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67" name="Google Shape;67;p14"/>
          <p:cNvCxnSpPr/>
          <p:nvPr/>
        </p:nvCxnSpPr>
        <p:spPr>
          <a:xfrm flipH="1" rot="10800000">
            <a:off x="533850" y="1723750"/>
            <a:ext cx="10500" cy="69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4"/>
          <p:cNvCxnSpPr/>
          <p:nvPr/>
        </p:nvCxnSpPr>
        <p:spPr>
          <a:xfrm flipH="1">
            <a:off x="533750" y="3389550"/>
            <a:ext cx="10500" cy="72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ctrTitle"/>
          </p:nvPr>
        </p:nvSpPr>
        <p:spPr>
          <a:xfrm>
            <a:off x="311700" y="255575"/>
            <a:ext cx="8520600" cy="62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C4587"/>
                </a:solidFill>
              </a:rPr>
              <a:t>Data Integrity: From </a:t>
            </a:r>
            <a:r>
              <a:rPr lang="en" sz="3000">
                <a:solidFill>
                  <a:srgbClr val="1C4587"/>
                </a:solidFill>
              </a:rPr>
              <a:t>Chaos</a:t>
            </a:r>
            <a:r>
              <a:rPr lang="en" sz="3000">
                <a:solidFill>
                  <a:srgbClr val="1C4587"/>
                </a:solidFill>
              </a:rPr>
              <a:t> to Insight</a:t>
            </a:r>
            <a:endParaRPr sz="3000">
              <a:solidFill>
                <a:srgbClr val="1C4587"/>
              </a:solidFill>
            </a:endParaRPr>
          </a:p>
        </p:txBody>
      </p:sp>
      <p:sp>
        <p:nvSpPr>
          <p:cNvPr id="74" name="Google Shape;74;p15"/>
          <p:cNvSpPr txBox="1"/>
          <p:nvPr>
            <p:ph idx="1" type="subTitle"/>
          </p:nvPr>
        </p:nvSpPr>
        <p:spPr>
          <a:xfrm>
            <a:off x="311700" y="1109450"/>
            <a:ext cx="8520600" cy="26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1.</a:t>
            </a:r>
            <a:r>
              <a:rPr lang="en" sz="2000"/>
              <a:t>Data Merge                       2.Quality Checks                3.Enrichment</a:t>
            </a:r>
            <a:endParaRPr sz="2000"/>
          </a:p>
        </p:txBody>
      </p:sp>
      <p:sp>
        <p:nvSpPr>
          <p:cNvPr id="75" name="Google Shape;75;p15"/>
          <p:cNvSpPr/>
          <p:nvPr/>
        </p:nvSpPr>
        <p:spPr>
          <a:xfrm>
            <a:off x="773300" y="1801200"/>
            <a:ext cx="1863900" cy="14010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Orderlines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Brands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3688675" y="1801200"/>
            <a:ext cx="2566500" cy="15411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</a:t>
            </a:r>
            <a:r>
              <a:rPr lang="en"/>
              <a:t>0 Ghost SKUs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Only ‘Completed’ States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Duplicate Removal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“Uncorrupted price”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7103800" y="1801200"/>
            <a:ext cx="1603500" cy="1541100"/>
          </a:xfrm>
          <a:prstGeom prst="flowChartAlternateProcess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Strategic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Categories</a:t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1052850" y="3960125"/>
            <a:ext cx="7038300" cy="6246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Result: A reliable “Source of Truth” for Decision Making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2637200" y="2442075"/>
            <a:ext cx="1051500" cy="374700"/>
          </a:xfrm>
          <a:prstGeom prst="rightArrow">
            <a:avLst>
              <a:gd fmla="val 29172" name="adj1"/>
              <a:gd fmla="val 31134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6255175" y="2442075"/>
            <a:ext cx="848700" cy="27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ctrTitle"/>
          </p:nvPr>
        </p:nvSpPr>
        <p:spPr>
          <a:xfrm>
            <a:off x="311700" y="380150"/>
            <a:ext cx="8520600" cy="5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C4587"/>
                </a:solidFill>
              </a:rPr>
              <a:t>The Discount Paradox: Volume vs. Profitability </a:t>
            </a:r>
            <a:endParaRPr sz="3000">
              <a:solidFill>
                <a:srgbClr val="1C4587"/>
              </a:solidFill>
            </a:endParaRPr>
          </a:p>
        </p:txBody>
      </p:sp>
      <p:sp>
        <p:nvSpPr>
          <p:cNvPr id="86" name="Google Shape;86;p16"/>
          <p:cNvSpPr txBox="1"/>
          <p:nvPr>
            <p:ph idx="1" type="subTitle"/>
          </p:nvPr>
        </p:nvSpPr>
        <p:spPr>
          <a:xfrm>
            <a:off x="238825" y="1616700"/>
            <a:ext cx="2075400" cy="21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Strategic Insight:</a:t>
            </a:r>
            <a:endParaRPr b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Discounts between 11-30% drive of revenue,but exceeding 30% degrades unit value by 80% .</a:t>
            </a:r>
            <a:endParaRPr sz="1600"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4275" y="1359225"/>
            <a:ext cx="6537026" cy="355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ctrTitle"/>
          </p:nvPr>
        </p:nvSpPr>
        <p:spPr>
          <a:xfrm>
            <a:off x="311700" y="61625"/>
            <a:ext cx="8520600" cy="52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80">
                <a:solidFill>
                  <a:srgbClr val="1C4587"/>
                </a:solidFill>
              </a:rPr>
              <a:t>Price Distribution Across Product Categories</a:t>
            </a:r>
            <a:endParaRPr sz="2280">
              <a:solidFill>
                <a:srgbClr val="1C4587"/>
              </a:solidFill>
            </a:endParaRPr>
          </a:p>
        </p:txBody>
      </p:sp>
      <p:sp>
        <p:nvSpPr>
          <p:cNvPr id="93" name="Google Shape;93;p17"/>
          <p:cNvSpPr txBox="1"/>
          <p:nvPr>
            <p:ph idx="1" type="subTitle"/>
          </p:nvPr>
        </p:nvSpPr>
        <p:spPr>
          <a:xfrm>
            <a:off x="311700" y="1067700"/>
            <a:ext cx="2756400" cy="32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3254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5477"/>
              <a:buChar char="●"/>
            </a:pPr>
            <a:r>
              <a:rPr lang="en" sz="1826">
                <a:solidFill>
                  <a:schemeClr val="dk1"/>
                </a:solidFill>
              </a:rPr>
              <a:t>Most products cluster at affordable prices… but every category has premium outliers.</a:t>
            </a:r>
            <a:endParaRPr sz="1826">
              <a:solidFill>
                <a:schemeClr val="dk1"/>
              </a:solidFill>
            </a:endParaRPr>
          </a:p>
          <a:p>
            <a:pPr indent="-33254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5477"/>
              <a:buChar char="●"/>
            </a:pPr>
            <a:r>
              <a:rPr b="1" lang="en" sz="1826">
                <a:solidFill>
                  <a:schemeClr val="dk1"/>
                </a:solidFill>
              </a:rPr>
              <a:t>Servers and desktops</a:t>
            </a:r>
            <a:r>
              <a:rPr lang="en" sz="1826">
                <a:solidFill>
                  <a:schemeClr val="dk1"/>
                </a:solidFill>
              </a:rPr>
              <a:t> drive the highest extremes.</a:t>
            </a:r>
            <a:endParaRPr sz="1826">
              <a:solidFill>
                <a:schemeClr val="dk1"/>
              </a:solidFill>
            </a:endParaRPr>
          </a:p>
          <a:p>
            <a:pPr indent="-33254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5477"/>
              <a:buChar char="●"/>
            </a:pPr>
            <a:r>
              <a:rPr b="1" lang="en" sz="1826">
                <a:solidFill>
                  <a:schemeClr val="dk1"/>
                </a:solidFill>
              </a:rPr>
              <a:t>Everyday devices</a:t>
            </a:r>
            <a:r>
              <a:rPr lang="en" sz="1826">
                <a:solidFill>
                  <a:schemeClr val="dk1"/>
                </a:solidFill>
              </a:rPr>
              <a:t> stay in lower, tighter ranges.</a:t>
            </a:r>
            <a:endParaRPr sz="1826">
              <a:solidFill>
                <a:schemeClr val="dk1"/>
              </a:solidFill>
            </a:endParaRPr>
          </a:p>
          <a:p>
            <a:pPr indent="-33254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5477"/>
              <a:buChar char="●"/>
            </a:pPr>
            <a:r>
              <a:rPr lang="en" sz="1826">
                <a:solidFill>
                  <a:schemeClr val="dk1"/>
                </a:solidFill>
              </a:rPr>
              <a:t>Overall: </a:t>
            </a:r>
            <a:r>
              <a:rPr b="1" lang="en" sz="1826">
                <a:solidFill>
                  <a:schemeClr val="dk1"/>
                </a:solidFill>
              </a:rPr>
              <a:t>a broad base with a long tail of high-end products.</a:t>
            </a:r>
            <a:endParaRPr b="1" sz="1826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0500" y="692875"/>
            <a:ext cx="5771099" cy="392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ctrTitle"/>
          </p:nvPr>
        </p:nvSpPr>
        <p:spPr>
          <a:xfrm>
            <a:off x="311700" y="386300"/>
            <a:ext cx="8520600" cy="65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1C4587"/>
                </a:solidFill>
              </a:rPr>
              <a:t>Recommendations</a:t>
            </a:r>
            <a:endParaRPr sz="2600">
              <a:solidFill>
                <a:srgbClr val="1C4587"/>
              </a:solidFill>
            </a:endParaRPr>
          </a:p>
        </p:txBody>
      </p:sp>
      <p:sp>
        <p:nvSpPr>
          <p:cNvPr id="100" name="Google Shape;100;p18"/>
          <p:cNvSpPr txBox="1"/>
          <p:nvPr>
            <p:ph idx="1" type="subTitle"/>
          </p:nvPr>
        </p:nvSpPr>
        <p:spPr>
          <a:xfrm>
            <a:off x="311700" y="1146675"/>
            <a:ext cx="8520600" cy="3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1. Strategic Recommendations (The "What")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Implement Discount Caps: Discounts at below 20%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Premium products are less price-sensitive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Implement other promotional offers during the seasonal sales (eg. free delivery, offered an accessory when purchasing over certain amount,...)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2. Data Collection Roadmap (The "How")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Integrate price units in order to minimize data loss during data cleanings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Fixed Category IDs: Replace manual text-cleaning with a standardized database table.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Tracking the production costs would provide a better overview of an actual product profit.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